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9" d="100"/>
          <a:sy n="89" d="100"/>
        </p:scale>
        <p:origin x="370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9/6/2026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perialCoder01/Seasonal_Agriculture_Performance_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3679" y="3521161"/>
            <a:ext cx="3984970" cy="86149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Vishal Kumar Tripathi</a:t>
            </a:r>
            <a:endParaRPr sz="1400" dirty="0"/>
          </a:p>
          <a:p>
            <a:pPr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KCC Institute of Technology and Management</a:t>
            </a:r>
            <a:endParaRPr sz="1400" dirty="0"/>
          </a:p>
          <a:p>
            <a:pPr>
              <a:defRPr sz="1400">
                <a:solidFill>
                  <a:srgbClr val="3C3C3C"/>
                </a:solidFill>
              </a:defRPr>
            </a:pPr>
            <a:r>
              <a:rPr sz="1400" dirty="0"/>
              <a:t>VOIS AICTE Batch (2026–2027)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873256"/>
            <a:ext cx="6258067" cy="482444"/>
          </a:xfrm>
        </p:spPr>
        <p:txBody>
          <a:bodyPr>
            <a:no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rPr sz="2400" dirty="0"/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733679" y="4548119"/>
            <a:ext cx="357090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 dirty="0"/>
              <a:t>AICTE STU ID: </a:t>
            </a:r>
            <a:r>
              <a:rPr lang="en-US" dirty="0"/>
              <a:t>STU6a1a9c1c1a8c11780128796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6764" y="2306877"/>
            <a:ext cx="6431280" cy="3607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rPr dirty="0"/>
              <a:t>Agricultural productivity varies substantially across seasons due to changing rainfall, temperatures, soil moisture, and farming inputs.</a:t>
            </a:r>
          </a:p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rPr dirty="0"/>
              <a:t>Raw observational farm data lacks clear structure, containing missing values and skewed distributions that complicate decision-making.</a:t>
            </a:r>
          </a:p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rPr dirty="0"/>
              <a:t>Objective: Analyze empirical farm records to investigate seasonal variations in yield, economic margins, and environmental factors across Kharif, Rabi, and Zaid.</a:t>
            </a:r>
          </a:p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rPr dirty="0"/>
              <a:t>Focus on empirical evidence and robust non-parametric analysis without assuming unproven causal relationships.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149" y="959710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897" y="1029983"/>
            <a:ext cx="3994946" cy="686663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1B365D"/>
                </a:solidFill>
              </a:defRPr>
            </a:pPr>
            <a:r>
              <a:rPr sz="3200" dirty="0"/>
              <a:t>Project Description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82828"/>
                </a:solidFill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5957" y="1707379"/>
            <a:ext cx="945627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82828"/>
                </a:solidFill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4880" y="2216958"/>
            <a:ext cx="8481492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  <a:defRPr sz="1500">
                <a:solidFill>
                  <a:srgbClr val="282828"/>
                </a:solidFill>
              </a:defRPr>
            </a:pPr>
            <a:r>
              <a:rPr dirty="0"/>
              <a:t>Empirical Study: Comprehensive data analytics study analyzing 4,000 agricultural farm operations across diverse Indian </a:t>
            </a:r>
            <a:r>
              <a:rPr dirty="0" err="1"/>
              <a:t>agro</a:t>
            </a:r>
            <a:r>
              <a:rPr dirty="0"/>
              <a:t>-climatic zones.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  <a:defRPr sz="1500">
                <a:solidFill>
                  <a:srgbClr val="282828"/>
                </a:solidFill>
              </a:defRPr>
            </a:pPr>
            <a:r>
              <a:rPr dirty="0"/>
              <a:t>Multi-Dimensional Dataset: Evaluated 28 variables spanning soil nutrients (N, P, K, pH), weather metrics, crop types, irrigation methods, and financial outcomes.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  <a:defRPr sz="1500">
                <a:solidFill>
                  <a:srgbClr val="282828"/>
                </a:solidFill>
              </a:defRPr>
            </a:pPr>
            <a:r>
              <a:rPr dirty="0"/>
              <a:t>Rigorous Data Cleaning: Handled missing values through season-wise median imputation (Rainfall, Soil Moisture) and exact deterministic calculation for Yield (</a:t>
            </a:r>
            <a:r>
              <a:rPr dirty="0" err="1"/>
              <a:t>Yield_Tonnes_Ha</a:t>
            </a:r>
            <a:r>
              <a:rPr dirty="0"/>
              <a:t> = </a:t>
            </a:r>
            <a:r>
              <a:rPr dirty="0" err="1"/>
              <a:t>Production_Tonnes</a:t>
            </a:r>
            <a:r>
              <a:rPr dirty="0"/>
              <a:t> / </a:t>
            </a:r>
            <a:r>
              <a:rPr dirty="0" err="1"/>
              <a:t>Farm_Area_Hectares</a:t>
            </a:r>
            <a:r>
              <a:rPr dirty="0"/>
              <a:t>).</a:t>
            </a:r>
            <a:endParaRPr lang="en-US" dirty="0"/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  <a:defRPr sz="1500">
                <a:solidFill>
                  <a:srgbClr val="282828"/>
                </a:solidFill>
              </a:defRPr>
            </a:pPr>
            <a:r>
              <a:rPr dirty="0"/>
              <a:t>Non-Parametric Approach: Prioritized median-based summaries over means to prevent distortion from high-yielding crops like Sugarcane.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  <a:defRPr sz="1500">
                <a:solidFill>
                  <a:srgbClr val="282828"/>
                </a:solidFill>
              </a:defRPr>
            </a:pPr>
            <a:r>
              <a:rPr dirty="0"/>
              <a:t>Statistical Validation: Applied Kruskal-Wallis non-parametric hypothesis testing and Spearman rank correlation to establish rigorous, non-causal associations.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2267406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sz="1400" b="1" dirty="0">
                <a:solidFill>
                  <a:srgbClr val="1B365D"/>
                </a:solidFill>
              </a:rPr>
              <a:t>Farmers: </a:t>
            </a:r>
            <a:r>
              <a:rPr sz="1300" dirty="0">
                <a:solidFill>
                  <a:srgbClr val="323232"/>
                </a:solidFill>
              </a:rPr>
              <a:t>Understand seasonal yield and cost dynamics; select suitable crops and evaluate efficient irrigation methods (e.g., drip) to manage seasonal risks during periods like Zaid.</a:t>
            </a:r>
            <a:endParaRPr lang="en-IN" sz="3600" dirty="0"/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sz="1400" b="1" dirty="0">
                <a:solidFill>
                  <a:srgbClr val="1B365D"/>
                </a:solidFill>
              </a:rPr>
              <a:t>Agricultural Planners: </a:t>
            </a:r>
            <a:r>
              <a:rPr sz="1300" dirty="0">
                <a:solidFill>
                  <a:srgbClr val="323232"/>
                </a:solidFill>
              </a:rPr>
              <a:t>Optimize seasonal seed and fertilizer supply allocations and schedule canal water releases based on empirical seasonal rainfall patterns.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sz="1400" b="1" dirty="0">
                <a:solidFill>
                  <a:srgbClr val="1B365D"/>
                </a:solidFill>
              </a:rPr>
              <a:t>Agricultural Analysts: </a:t>
            </a:r>
            <a:r>
              <a:rPr sz="1300" dirty="0">
                <a:solidFill>
                  <a:srgbClr val="323232"/>
                </a:solidFill>
              </a:rPr>
              <a:t>Benchmark seasonal productivity patterns, evaluate resource efficiency ratios, and conduct sound observational modeling without misleading causal claims.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sz="1400" b="1" dirty="0">
                <a:solidFill>
                  <a:srgbClr val="1B365D"/>
                </a:solidFill>
              </a:rPr>
              <a:t>Policymakers: </a:t>
            </a:r>
            <a:r>
              <a:rPr sz="1300" dirty="0">
                <a:solidFill>
                  <a:srgbClr val="323232"/>
                </a:solidFill>
              </a:rPr>
              <a:t>Formulate targeted seasonal credit support, design drought/heatwave insurance schemes for summer crops, and prioritize micro-irrigation infrastructure investments.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59" y="945628"/>
            <a:ext cx="5334384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41116" y="1463105"/>
            <a:ext cx="9027702" cy="5243448"/>
          </a:xfrm>
        </p:spPr>
        <p:txBody>
          <a:bodyPr>
            <a:noAutofit/>
          </a:bodyPr>
          <a:lstStyle/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400" b="1" dirty="0">
                <a:solidFill>
                  <a:srgbClr val="1B365D"/>
                </a:solidFill>
              </a:rPr>
              <a:t>• Python: </a:t>
            </a:r>
            <a:r>
              <a:rPr sz="1400" dirty="0">
                <a:solidFill>
                  <a:srgbClr val="323232"/>
                </a:solidFill>
              </a:rPr>
              <a:t>Core programming language for end-to-end data analytics, data cleaning, and statistical modeling.</a:t>
            </a:r>
            <a:endParaRPr lang="en-US" sz="1400" dirty="0">
              <a:solidFill>
                <a:srgbClr val="323232"/>
              </a:solidFill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br>
              <a:rPr lang="en-IN" dirty="0"/>
            </a:br>
            <a:r>
              <a:rPr sz="1400" b="1" dirty="0">
                <a:solidFill>
                  <a:srgbClr val="1B365D"/>
                </a:solidFill>
              </a:rPr>
              <a:t>• Pandas: </a:t>
            </a:r>
            <a:r>
              <a:rPr sz="1400" dirty="0">
                <a:solidFill>
                  <a:srgbClr val="323232"/>
                </a:solidFill>
              </a:rPr>
              <a:t>Data ingestion, structural auditing, season-wise median imputation, and tabular aggregation.</a:t>
            </a:r>
            <a:endParaRPr lang="en-US" sz="1400" dirty="0">
              <a:solidFill>
                <a:srgbClr val="323232"/>
              </a:solidFill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br>
              <a:rPr lang="en-US" sz="1400" dirty="0">
                <a:solidFill>
                  <a:srgbClr val="323232"/>
                </a:solidFill>
              </a:rPr>
            </a:br>
            <a:r>
              <a:rPr sz="1400" b="1" dirty="0">
                <a:solidFill>
                  <a:srgbClr val="1B365D"/>
                </a:solidFill>
              </a:rPr>
              <a:t>• NumPy: </a:t>
            </a:r>
            <a:r>
              <a:rPr sz="1400" dirty="0">
                <a:solidFill>
                  <a:srgbClr val="323232"/>
                </a:solidFill>
              </a:rPr>
              <a:t>Numerical transformations and vectorized conditional logic (e.g., </a:t>
            </a:r>
            <a:r>
              <a:rPr sz="1400" dirty="0" err="1">
                <a:solidFill>
                  <a:srgbClr val="323232"/>
                </a:solidFill>
              </a:rPr>
              <a:t>Profit_Status</a:t>
            </a:r>
            <a:r>
              <a:rPr sz="1400" dirty="0">
                <a:solidFill>
                  <a:srgbClr val="323232"/>
                </a:solidFill>
              </a:rPr>
              <a:t> classification).</a:t>
            </a:r>
            <a:endParaRPr lang="en-US" sz="1400" dirty="0">
              <a:solidFill>
                <a:srgbClr val="323232"/>
              </a:solidFill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br>
              <a:rPr lang="en-US" sz="1400" dirty="0">
                <a:solidFill>
                  <a:srgbClr val="323232"/>
                </a:solidFill>
              </a:rPr>
            </a:br>
            <a:r>
              <a:rPr sz="1400" b="1" dirty="0">
                <a:solidFill>
                  <a:srgbClr val="1B365D"/>
                </a:solidFill>
              </a:rPr>
              <a:t>• Matplotlib &amp; Seaborn: </a:t>
            </a:r>
            <a:r>
              <a:rPr sz="1400" dirty="0">
                <a:solidFill>
                  <a:srgbClr val="323232"/>
                </a:solidFill>
              </a:rPr>
              <a:t>Academic-quality visualization for bar charts, cross-tabulated heatmaps, and scatter plots.</a:t>
            </a:r>
            <a:endParaRPr lang="en-US" sz="1400" dirty="0">
              <a:solidFill>
                <a:srgbClr val="323232"/>
              </a:solidFill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br>
              <a:rPr lang="en-US" sz="1400" dirty="0">
                <a:solidFill>
                  <a:srgbClr val="323232"/>
                </a:solidFill>
              </a:rPr>
            </a:br>
            <a:r>
              <a:rPr sz="1400" b="1" dirty="0">
                <a:solidFill>
                  <a:srgbClr val="1B365D"/>
                </a:solidFill>
              </a:rPr>
              <a:t>• SciPy (</a:t>
            </a:r>
            <a:r>
              <a:rPr sz="1400" b="1" dirty="0" err="1">
                <a:solidFill>
                  <a:srgbClr val="1B365D"/>
                </a:solidFill>
              </a:rPr>
              <a:t>scipy.stats</a:t>
            </a:r>
            <a:r>
              <a:rPr sz="1400" b="1" dirty="0">
                <a:solidFill>
                  <a:srgbClr val="1B365D"/>
                </a:solidFill>
              </a:rPr>
              <a:t>): </a:t>
            </a:r>
            <a:r>
              <a:rPr sz="1400" dirty="0">
                <a:solidFill>
                  <a:srgbClr val="323232"/>
                </a:solidFill>
              </a:rPr>
              <a:t>Rigorous non-parametric inference: Kruskal-Wallis H-test and Spearman rank correlation.</a:t>
            </a:r>
            <a:endParaRPr lang="en-US" sz="1400" dirty="0">
              <a:solidFill>
                <a:srgbClr val="323232"/>
              </a:solidFill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br>
              <a:rPr lang="en-US" sz="1400" dirty="0">
                <a:solidFill>
                  <a:srgbClr val="323232"/>
                </a:solidFill>
              </a:rPr>
            </a:br>
            <a:r>
              <a:rPr sz="1400" b="1" dirty="0">
                <a:solidFill>
                  <a:srgbClr val="1B365D"/>
                </a:solidFill>
              </a:rPr>
              <a:t>• Google </a:t>
            </a:r>
            <a:r>
              <a:rPr sz="1400" b="1" dirty="0" err="1">
                <a:solidFill>
                  <a:srgbClr val="1B365D"/>
                </a:solidFill>
              </a:rPr>
              <a:t>Colab</a:t>
            </a:r>
            <a:r>
              <a:rPr sz="1400" b="1" dirty="0">
                <a:solidFill>
                  <a:srgbClr val="1B365D"/>
                </a:solidFill>
              </a:rPr>
              <a:t> / Jupyter Notebook: </a:t>
            </a:r>
            <a:r>
              <a:rPr sz="1400" dirty="0">
                <a:solidFill>
                  <a:srgbClr val="323232"/>
                </a:solidFill>
              </a:rPr>
              <a:t>Interactive reproducible environment containing all code, outputs, and interpretations.</a:t>
            </a:r>
            <a:endParaRPr lang="en-US" sz="1400" dirty="0">
              <a:solidFill>
                <a:srgbClr val="323232"/>
              </a:solidFill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br>
              <a:rPr lang="en-US" sz="1400" dirty="0">
                <a:solidFill>
                  <a:srgbClr val="323232"/>
                </a:solidFill>
              </a:rPr>
            </a:br>
            <a:r>
              <a:rPr sz="1400" b="1" dirty="0">
                <a:solidFill>
                  <a:srgbClr val="1B365D"/>
                </a:solidFill>
              </a:rPr>
              <a:t>• GitHub: </a:t>
            </a:r>
            <a:r>
              <a:rPr sz="1400" dirty="0">
                <a:solidFill>
                  <a:srgbClr val="323232"/>
                </a:solidFill>
              </a:rPr>
              <a:t>Version-controlled project repository, file management, and documentation hosting.</a:t>
            </a:r>
            <a:endParaRPr lang="en-US" sz="1400" dirty="0">
              <a:solidFill>
                <a:srgbClr val="323232"/>
              </a:solidFill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br>
              <a:rPr lang="en-US" sz="1400" dirty="0">
                <a:solidFill>
                  <a:srgbClr val="323232"/>
                </a:solidFill>
              </a:rPr>
            </a:br>
            <a:r>
              <a:rPr sz="1400" b="1" dirty="0">
                <a:solidFill>
                  <a:srgbClr val="1B365D"/>
                </a:solidFill>
              </a:rPr>
              <a:t>• Microsoft PowerPoint: </a:t>
            </a:r>
            <a:r>
              <a:rPr sz="1400" dirty="0">
                <a:solidFill>
                  <a:srgbClr val="323232"/>
                </a:solidFill>
              </a:rPr>
              <a:t>Executive presentation deck reporting.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314" y="335677"/>
            <a:ext cx="5029372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720819"/>
            <a:ext cx="4977765" cy="830997"/>
          </a:xfrm>
        </p:spPr>
        <p:txBody>
          <a:bodyPr>
            <a:no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rPr sz="2800" dirty="0"/>
              <a:t>Seasonal Yield Performance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288000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chart1_seasonal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1" y="1670453"/>
            <a:ext cx="5486400" cy="352697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92240" y="146304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146304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53722" y="2275840"/>
            <a:ext cx="4244880" cy="3093154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r>
              <a:rPr dirty="0"/>
              <a:t>Median Agricultural Yield by Season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Kharif recorded the highest median yield at 1.94 </a:t>
            </a:r>
            <a:r>
              <a:rPr dirty="0" err="1"/>
              <a:t>Tonnes</a:t>
            </a:r>
            <a:r>
              <a:rPr dirty="0"/>
              <a:t>/Ha (Mean: 5.63 t/ha).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Zaid recorded the lowest median yield at 1.45 </a:t>
            </a:r>
            <a:r>
              <a:rPr dirty="0" err="1"/>
              <a:t>Tonnes</a:t>
            </a:r>
            <a:r>
              <a:rPr dirty="0"/>
              <a:t>/Ha (Mean: 4.63 t/ha), while Rabi produced 1.66 </a:t>
            </a:r>
            <a:r>
              <a:rPr dirty="0" err="1"/>
              <a:t>Tonnes</a:t>
            </a:r>
            <a:r>
              <a:rPr dirty="0"/>
              <a:t>/Ha.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Observed difference: Kharif median yield is approximately 0.49 </a:t>
            </a:r>
            <a:r>
              <a:rPr dirty="0" err="1"/>
              <a:t>Tonnes</a:t>
            </a:r>
            <a:r>
              <a:rPr dirty="0"/>
              <a:t>/Ha (~33.8%) higher than Zaid.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Non-Causal Guardrail: Differences indicate seasonal variation and do not imply that season alone drives yield variation.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387" y="691763"/>
            <a:ext cx="5707089" cy="446869"/>
          </a:xfrm>
        </p:spPr>
        <p:txBody>
          <a:bodyPr>
            <a:no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rPr sz="2800" dirty="0"/>
              <a:t>Seasonal Economic Performance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288000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chart2_seasonal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03" y="1591781"/>
            <a:ext cx="5486400" cy="352697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92240" y="146304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5633303" y="2082800"/>
            <a:ext cx="4016724" cy="3093154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r>
              <a:rPr dirty="0"/>
              <a:t>Median Profit by Season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Kharif is the only season demonstrating positive median profit at INR 38,808 per farm.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Zaid recorded substantially lower median profitability (-INR 62,144), while Rabi records a slight median deficit (-INR 3,187).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Cost and resource-use patterns may contribute to the observed profitability differences, but this analysis does not establish causation.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lang="en-US" dirty="0"/>
              <a:t>Decision </a:t>
            </a:r>
            <a:r>
              <a:rPr dirty="0"/>
              <a:t>Impact: Underscores greater economic risk during the summer season and the need for risk buffers.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699738"/>
            <a:ext cx="6213116" cy="477521"/>
          </a:xfrm>
        </p:spPr>
        <p:txBody>
          <a:bodyPr>
            <a:no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rPr sz="2800" dirty="0"/>
              <a:t>Seasonal Environmental Conditions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288000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chart3_seasonal_rain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22" y="1670453"/>
            <a:ext cx="5486400" cy="352697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704622" y="2019522"/>
            <a:ext cx="4030165" cy="3293209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r>
              <a:rPr dirty="0"/>
              <a:t>Median Rainfall by Season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Kharif received the highest median precipitation at 854.75 mm (Mean: 852.11 mm).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Zaid received the lowest median rainfall at 283.30 mm, while Rabi received 430.30 mm.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Lower observed rainfall in Rabi and Zaid indicates potentially greater reliance on irrigation compared with Kharif (~3.0x difference).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Rainfall variation characterizes seasonal environments but operates alongside other agronomic factors.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882759"/>
            <a:ext cx="5920152" cy="451927"/>
          </a:xfrm>
        </p:spPr>
        <p:txBody>
          <a:bodyPr>
            <a:no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rPr sz="2800" dirty="0"/>
              <a:t>Crop Performance Across Seasons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288000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chart4_crop_seas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48" y="2091677"/>
            <a:ext cx="5486400" cy="3657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92240" y="146304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5699761" y="2091677"/>
            <a:ext cx="4098820" cy="3493264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r>
              <a:rPr dirty="0"/>
              <a:t>Median Crop Yield Across Seasons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Sugarcane recorded the highest median yield among the crops analyzed across all seasons (56.65 t/ha in Kharif, 45.46 t/ha in Rabi, 38.78 t/ha in Zaid).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Food grains showed solid observed yields: Maize (2.255–3.12 t/ha), Rice (1.935–2.88 t/ha), and Wheat (1.84–2.36 t/ha).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lang="en-US" dirty="0"/>
              <a:t>Pulses </a:t>
            </a:r>
            <a:r>
              <a:rPr dirty="0"/>
              <a:t>(0.655–1.09 t/ha) and Cotton (0.955–1.44 t/ha) recorded lower median yields across all three seasons.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dirty="0"/>
              <a:t>Observed Pattern: All 8 crops achieved their highest median yields in Kharif and lowest in Zaid.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032346"/>
            <a:ext cx="5265867" cy="477521"/>
          </a:xfrm>
        </p:spPr>
        <p:txBody>
          <a:bodyPr>
            <a:no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rPr sz="2800" dirty="0"/>
              <a:t>Rainfall and Yield Relationship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288000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chart5_rainfall_yield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71" y="2179320"/>
            <a:ext cx="5486400" cy="3657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92240" y="1463040"/>
            <a:ext cx="51206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15171" y="2179320"/>
            <a:ext cx="4125156" cy="3508653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r>
              <a:rPr dirty="0"/>
              <a:t>Relationship Between Rainfall and Agricultural Yield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sz="1400" dirty="0"/>
              <a:t>Spearman rank correlation: rho = 0.1295, p = 1.99e-16 across N = 4,000 farms.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sz="1400" dirty="0"/>
              <a:t>The analysis indicates a statistically significant, weak positive association between rainfall and yield.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sz="1400" dirty="0"/>
              <a:t>Caution: Correlation does not establish causation; higher rainfall does not singularly cause higher yields.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23232"/>
                </a:solidFill>
              </a:defRPr>
            </a:pPr>
            <a:r>
              <a:rPr sz="1400" dirty="0"/>
              <a:t>Multiple agronomic inputs (irrigation, fertilization, soil quality, temperature) operate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658081"/>
            <a:ext cx="4735798" cy="830997"/>
          </a:xfrm>
        </p:spPr>
        <p:txBody>
          <a:bodyPr>
            <a:normAutofit/>
          </a:bodyPr>
          <a:lstStyle/>
          <a:p>
            <a:r>
              <a:rPr lang="en-IN" sz="44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5957" y="2098291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5860" y="2143544"/>
            <a:ext cx="8274457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1B365D"/>
                </a:solidFill>
              </a:rPr>
              <a:t>Predictive Machine Learning Forecasting: </a:t>
            </a:r>
            <a:r>
              <a:rPr sz="1600" dirty="0">
                <a:solidFill>
                  <a:srgbClr val="323232"/>
                </a:solidFill>
              </a:rPr>
              <a:t>Develop regression and ensemble models to forecast crop yield from multi-variable environmental inputs.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1B365D"/>
                </a:solidFill>
              </a:rPr>
              <a:t>Weather-Driven Early Warning Systems: </a:t>
            </a:r>
            <a:r>
              <a:rPr sz="1600" dirty="0">
                <a:solidFill>
                  <a:srgbClr val="323232"/>
                </a:solidFill>
              </a:rPr>
              <a:t>Integrate real-time meteorological forecasts to anticipate drought, unseasonal rains, and heatwave impacts on seasonal crops.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1B365D"/>
                </a:solidFill>
              </a:rPr>
              <a:t>Interactive Farm Analytics Dashboard: </a:t>
            </a:r>
            <a:r>
              <a:rPr sz="1600" dirty="0">
                <a:solidFill>
                  <a:srgbClr val="323232"/>
                </a:solidFill>
              </a:rPr>
              <a:t>Build an interactive web application allowing farmers to simulate seasonal crop choices, water requirements, and net profit margins.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1B365D"/>
                </a:solidFill>
              </a:rPr>
              <a:t>Multi-Year Longitudinal Analysis: </a:t>
            </a:r>
            <a:r>
              <a:rPr sz="1600" dirty="0">
                <a:solidFill>
                  <a:srgbClr val="323232"/>
                </a:solidFill>
              </a:rPr>
              <a:t>Expand the dataset across multi-year cycles to evaluate long-term climate change impacts and seasonal variability trends.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1B365D"/>
                </a:solidFill>
              </a:rPr>
              <a:t>Automated Crop Recommendation Engine: </a:t>
            </a:r>
            <a:r>
              <a:rPr sz="1600" dirty="0">
                <a:solidFill>
                  <a:srgbClr val="323232"/>
                </a:solidFill>
              </a:rPr>
              <a:t>Implement prescriptive models to recommend optimal crop-season-irrigation pairings tailored to soil chemistry and water availability.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1B365D"/>
                </a:solidFill>
              </a:rPr>
              <a:t>Note on Scope: </a:t>
            </a:r>
            <a:r>
              <a:rPr sz="1600" dirty="0">
                <a:solidFill>
                  <a:srgbClr val="323232"/>
                </a:solidFill>
              </a:rPr>
              <a:t>The above enhancements represent proposed future capabilities and were not implemented in the current baseline exploratory project.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486" y="859872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524486" y="1984579"/>
            <a:ext cx="8209251" cy="3503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B365D"/>
                </a:solidFill>
              </a:defRPr>
            </a:pPr>
            <a:r>
              <a:rPr sz="3600" dirty="0"/>
              <a:t>Project Repository &amp; Deliverables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282828"/>
                </a:solidFill>
              </a:defRPr>
            </a:pPr>
            <a:r>
              <a:rPr sz="1600" dirty="0"/>
              <a:t>Repository Name: Seasonal-Agriculture-Performance-Analysis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282828"/>
                </a:solidFill>
              </a:defRPr>
            </a:pPr>
            <a:r>
              <a:rPr sz="1600" dirty="0"/>
              <a:t>Repository URL</a:t>
            </a:r>
            <a:r>
              <a:rPr lang="en-US" sz="1600" dirty="0"/>
              <a:t>:</a:t>
            </a:r>
            <a:r>
              <a:rPr sz="1600" dirty="0"/>
              <a:t> </a:t>
            </a:r>
            <a:r>
              <a:rPr lang="en-US" sz="1600" dirty="0">
                <a:hlinkClick r:id="rId3"/>
              </a:rPr>
              <a:t>https://github.com/ImperialCoder01/Seasonal_Agriculture_Performance_Analysis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282828"/>
                </a:solidFill>
              </a:defRPr>
            </a:pPr>
            <a:r>
              <a:rPr sz="1600" dirty="0"/>
              <a:t>Repository Files Included: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300">
                <a:solidFill>
                  <a:srgbClr val="282828"/>
                </a:solidFill>
              </a:defRPr>
            </a:pPr>
            <a:r>
              <a:rPr sz="1600" dirty="0"/>
              <a:t>Seasonal_Agriculture_Performance_Analysis.ipynb</a:t>
            </a:r>
            <a:endParaRPr lang="en-US" sz="1600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300">
                <a:solidFill>
                  <a:srgbClr val="282828"/>
                </a:solidFill>
              </a:defRPr>
            </a:pPr>
            <a:r>
              <a:rPr lang="en-US" sz="1600" dirty="0"/>
              <a:t>seasonal_agriculture_performance_dataset.csv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300">
                <a:solidFill>
                  <a:srgbClr val="282828"/>
                </a:solidFill>
              </a:defRPr>
            </a:pPr>
            <a:r>
              <a:rPr lang="en-US" sz="1600" dirty="0"/>
              <a:t>Vishal Kumar Tripathi_VOIS_Major_Project_PPT_Submission.pptx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300">
                <a:solidFill>
                  <a:srgbClr val="282828"/>
                </a:solidFill>
              </a:defRPr>
            </a:pPr>
            <a:r>
              <a:rPr lang="en-US" sz="1600" dirty="0"/>
              <a:t>README.md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515" y="737315"/>
            <a:ext cx="6539270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731520" y="20116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B365D"/>
                </a:solidFill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20116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B365D"/>
                </a:solidFill>
              </a:defRPr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1E3D71-8E9F-A6E7-C07F-E45A7A61B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515" y="2160029"/>
            <a:ext cx="6104357" cy="431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1256" y="757383"/>
            <a:ext cx="3309487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123210" y="2041440"/>
            <a:ext cx="5945577" cy="277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B365D"/>
                </a:solidFill>
              </a:defRPr>
            </a:pPr>
            <a:r>
              <a:rPr dirty="0"/>
              <a:t>Thank You for Your Time and Consideration</a:t>
            </a:r>
            <a:endParaRPr lang="en-US" dirty="0"/>
          </a:p>
          <a:p>
            <a:pPr>
              <a:spcAft>
                <a:spcPts val="1400"/>
              </a:spcAft>
              <a:defRPr sz="2200" b="1">
                <a:solidFill>
                  <a:srgbClr val="1B365D"/>
                </a:solidFill>
              </a:defRPr>
            </a:pPr>
            <a:endParaRPr dirty="0"/>
          </a:p>
          <a:p>
            <a:pPr>
              <a:defRPr sz="1500">
                <a:solidFill>
                  <a:srgbClr val="323232"/>
                </a:solidFill>
              </a:defRPr>
            </a:pPr>
            <a:r>
              <a:rPr dirty="0"/>
              <a:t>Seasonal Agriculture Performance Analysis</a:t>
            </a:r>
            <a:br>
              <a:rPr dirty="0"/>
            </a:br>
            <a:r>
              <a:rPr dirty="0"/>
              <a:t>VOIS AICTE Internship Batch (2026–2027)</a:t>
            </a:r>
            <a:br>
              <a:rPr dirty="0"/>
            </a:br>
            <a:r>
              <a:rPr dirty="0"/>
              <a:t>Final Submission Deadline: 10 September 2026</a:t>
            </a:r>
            <a:br>
              <a:rPr dirty="0"/>
            </a:br>
            <a:br>
              <a:rPr dirty="0"/>
            </a:br>
            <a:r>
              <a:rPr dirty="0"/>
              <a:t>Student Name: </a:t>
            </a:r>
            <a:r>
              <a:rPr lang="en-US" sz="1600" dirty="0"/>
              <a:t>Vishal Kumar Tripathi</a:t>
            </a:r>
          </a:p>
          <a:p>
            <a:pPr>
              <a:defRPr sz="1500">
                <a:solidFill>
                  <a:srgbClr val="323232"/>
                </a:solidFill>
              </a:defRPr>
            </a:pPr>
            <a:r>
              <a:rPr dirty="0"/>
              <a:t>College: </a:t>
            </a:r>
            <a:r>
              <a:rPr lang="en-US" sz="1600" dirty="0"/>
              <a:t>KCC Institute of Technology and Management</a:t>
            </a:r>
          </a:p>
          <a:p>
            <a:pPr>
              <a:defRPr sz="1500">
                <a:solidFill>
                  <a:srgbClr val="323232"/>
                </a:solidFill>
              </a:defRPr>
            </a:pPr>
            <a:r>
              <a:rPr dirty="0"/>
              <a:t>AICTE Student ID: </a:t>
            </a:r>
            <a:r>
              <a:rPr lang="en-US" dirty="0"/>
              <a:t>STU6a1a9c1c1a8c11780128796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683</TotalTime>
  <Words>1177</Words>
  <Application>Microsoft Office PowerPoint</Application>
  <PresentationFormat>Widescreen</PresentationFormat>
  <Paragraphs>84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</vt:lpstr>
      <vt:lpstr>WHO ARE THE END USERS?</vt:lpstr>
      <vt:lpstr>Technology Used</vt:lpstr>
      <vt:lpstr>Seasonal Yield Performance</vt:lpstr>
      <vt:lpstr>Seasonal Economic Performance</vt:lpstr>
      <vt:lpstr>Seasonal Environmental Conditions</vt:lpstr>
      <vt:lpstr>Crop Performance Across Seasons</vt:lpstr>
      <vt:lpstr>Rainfall and Yield Relationship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Vishal Kumar Tripathi</cp:lastModifiedBy>
  <cp:revision>103</cp:revision>
  <dcterms:created xsi:type="dcterms:W3CDTF">2021-07-11T13:13:15Z</dcterms:created>
  <dcterms:modified xsi:type="dcterms:W3CDTF">2026-09-05T20:17:49Z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